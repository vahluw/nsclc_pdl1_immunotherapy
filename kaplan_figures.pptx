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60" r:id="rId2"/>
    <p:sldId id="261" r:id="rId3"/>
    <p:sldId id="262" r:id="rId4"/>
    <p:sldId id="263" r:id="rId5"/>
    <p:sldId id="264" r:id="rId6"/>
    <p:sldId id="265" r:id="rId7"/>
    <p:sldId id="266" r:id="rId8"/>
    <p:sldId id="26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07"/>
    <p:restoredTop sz="94637"/>
  </p:normalViewPr>
  <p:slideViewPr>
    <p:cSldViewPr snapToGrid="0">
      <p:cViewPr varScale="1">
        <p:scale>
          <a:sx n="159" d="100"/>
          <a:sy n="159" d="100"/>
        </p:scale>
        <p:origin x="3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D3A342-95BC-3847-91D3-05C264E31944}" type="datetimeFigureOut">
              <a:rPr lang="en-US" smtClean="0"/>
              <a:t>6/17/24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EF0392-B3C5-4140-8C6E-A3DD8644D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842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EF0392-B3C5-4140-8C6E-A3DD8644D2A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4551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EF0392-B3C5-4140-8C6E-A3DD8644D2A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4419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EF0392-B3C5-4140-8C6E-A3DD8644D2A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6689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EF0392-B3C5-4140-8C6E-A3DD8644D2A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0044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E5881-860D-99A1-7954-01296B88EE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38C8DA-46ED-9013-F2E5-7F4E98D49E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642264-5AB9-F18F-2100-73574428FC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6/17/24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AF4043-462E-6931-DA70-45980A6A1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100F1E-08DD-25FA-BD42-D8856530B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62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86A89-8449-AB1B-E6DA-02603BFE7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C5E60-196B-9349-A211-12656E49CA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85D39-D375-2E8A-1930-571BCDEE3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6/17/24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353119-DCCE-1B37-2E12-4555C357B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D1A4FC-2334-39D3-8FE3-8D034CF8B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1030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FA9F7-572F-CAEF-251E-F4037183C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AA9CA0-82E9-9051-45F5-1EA4E87A18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14DAA5-6E34-6779-ACE4-10AF489C6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6/17/24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1614EE-DF6B-1603-BF20-A0C47CF85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BC485C-86E4-44CE-5224-81BC23BD0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408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B1915-3175-8454-B754-E3FD2C20D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190480-26C5-6797-D880-405C9E8C0F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5427A3-FE15-0814-E1D3-6988D1E4AE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F4145-AA0C-5910-C61B-E01A49626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6/17/24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9504EB-254D-F7CC-8226-CA3C57F0B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29E699-C71A-86EF-22C7-F8A9334F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551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CA30F-067F-72E2-2822-AD944DE7C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2C358C-4D76-EB8D-F6D4-3035687AEA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0D285B-72D2-1C24-D209-81C1BCCD08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70EC5C-7B37-3D45-88CC-4CD7A627AA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91EC23-E9A0-090F-1DD5-8D4A8B6E62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DC7369-DE4C-55FD-241A-85D4ED74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6/17/24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B96866-A75B-6FF5-449A-4477F1C86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91D4727-50AA-752E-64E5-8727315EB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84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348FC-6583-FB25-F360-C2036EFCA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AFC0FE-5342-2BC9-FCBF-44E46914E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6/17/24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30FC4E-ECBF-947D-B7AA-B5A168007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364805-4E31-83E7-3960-0F2BD3C3D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093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70EEDA-44E4-EAC8-5E0D-258D2355E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6/17/24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8A45C7-8981-F96B-C21B-25BA19DC8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1BCF14-EC5A-010F-C4D8-F4AD3C724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94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9A4A3-8BD1-1613-6111-1631063F9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62217C-EF27-6481-2512-053DD17C88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2F9DBE-8AC7-E440-DC5F-3D38D16A70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D7C05C-D5D7-3415-0907-99D3AD05F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6/17/24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B37143-CA1A-48AF-D2B7-CF09C6BE1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35723F-6CAC-CFB0-1C19-B791C2CCF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4535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9EBCF-BAF8-C025-9385-9BB60A657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2E040E-7015-A69E-46CF-3AEB2B66AF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D95383-9491-1008-10C1-CD7B5E6F64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F44C52-BBA7-C80A-A398-1E45E2EB7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6/17/24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151C46-9DCD-ECED-5C05-3FC7836B2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E0F172-2974-9F71-AD82-55B543FBE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8540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93383-1F26-1EE7-4AED-0394FB7B8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8759B9-47F5-ABA3-1829-732597778C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3FFB25-692B-41B3-0567-983F1AA3B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6/17/24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1DD56-E139-C830-3B4E-D845252A8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141292-A0DB-1D77-EE66-CB28885D3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9496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AFBEA6-3801-A5A1-96BF-17E8800CED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C9E0C3-24DA-D839-6278-43DD5A532A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31CD30-7BEB-D9FD-032E-4E565ACC2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427F2-688A-874C-BBD9-E88776030538}" type="datetimeFigureOut">
              <a:rPr lang="en-US" smtClean="0"/>
              <a:t>6/17/24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CB19AF-C976-589E-C856-BFC1A5025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07B887-0EA0-0BB6-3BD5-5A24E7A4A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48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422BB5-DDF8-D018-95A1-F03224577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8A42DD-3857-E856-5241-BD9785F9E9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8983D-1D90-E98A-75E3-B4B59DF4BF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427F2-688A-874C-BBD9-E88776030538}" type="datetimeFigureOut">
              <a:rPr lang="en-US" smtClean="0"/>
              <a:t>6/17/24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AF3D1B-B221-6717-50FC-D099595F34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514935-1EC2-D369-DAEB-E9CEC04F4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744123-A6C5-7E43-9325-22461970A4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052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59571685-23B3-5B13-C1CC-B40B0D6D6A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3235" y="30483"/>
            <a:ext cx="3999073" cy="2667568"/>
          </a:xfrm>
          <a:prstGeom prst="rect">
            <a:avLst/>
          </a:prstGeom>
        </p:spPr>
      </p:pic>
      <p:pic>
        <p:nvPicPr>
          <p:cNvPr id="23" name="Picture 22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792AFD91-406D-7E6C-6100-A60B556A41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1611" y="2608921"/>
            <a:ext cx="3999073" cy="2667568"/>
          </a:xfrm>
          <a:prstGeom prst="rect">
            <a:avLst/>
          </a:prstGeom>
        </p:spPr>
      </p:pic>
      <p:pic>
        <p:nvPicPr>
          <p:cNvPr id="25" name="Picture 24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5367A432-E414-A510-F00A-471621262D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6220" y="2608921"/>
            <a:ext cx="4132688" cy="2756696"/>
          </a:xfrm>
          <a:prstGeom prst="rect">
            <a:avLst/>
          </a:prstGeom>
        </p:spPr>
      </p:pic>
      <p:pic>
        <p:nvPicPr>
          <p:cNvPr id="27" name="Picture 26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C5492FDD-5ABE-1A40-7594-EBD1C7E0FB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63" y="2612182"/>
            <a:ext cx="4127799" cy="2753435"/>
          </a:xfrm>
          <a:prstGeom prst="rect">
            <a:avLst/>
          </a:prstGeom>
        </p:spPr>
      </p:pic>
      <p:pic>
        <p:nvPicPr>
          <p:cNvPr id="29" name="Picture 28" descr="A graph of a patient's recovery&#10;&#10;Description automatically generated with medium confidence">
            <a:extLst>
              <a:ext uri="{FF2B5EF4-FFF2-40B4-BE49-F238E27FC236}">
                <a16:creationId xmlns:a16="http://schemas.microsoft.com/office/drawing/2014/main" id="{0649428A-13DF-7C7E-78B4-9763CBEEA44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4163" y="60436"/>
            <a:ext cx="3999072" cy="2667568"/>
          </a:xfrm>
          <a:prstGeom prst="rect">
            <a:avLst/>
          </a:prstGeom>
        </p:spPr>
      </p:pic>
      <p:pic>
        <p:nvPicPr>
          <p:cNvPr id="31" name="Picture 30" descr="A graph of a red line&#10;&#10;Description automatically generated">
            <a:extLst>
              <a:ext uri="{FF2B5EF4-FFF2-40B4-BE49-F238E27FC236}">
                <a16:creationId xmlns:a16="http://schemas.microsoft.com/office/drawing/2014/main" id="{E2F8C79D-3620-3968-E8A1-769F59D0E2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72" y="12669"/>
            <a:ext cx="4070682" cy="271533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44F9872-8AB8-087E-DDDB-E814501F4512}"/>
              </a:ext>
            </a:extLst>
          </p:cNvPr>
          <p:cNvSpPr txBox="1"/>
          <p:nvPr/>
        </p:nvSpPr>
        <p:spPr>
          <a:xfrm>
            <a:off x="-2368" y="2243002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CF2896-199E-8A6F-AE37-DC1B48001D20}"/>
              </a:ext>
            </a:extLst>
          </p:cNvPr>
          <p:cNvSpPr txBox="1"/>
          <p:nvPr/>
        </p:nvSpPr>
        <p:spPr>
          <a:xfrm>
            <a:off x="4048279" y="2239589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AFF093-6AF2-E0F3-164D-36DD5988524F}"/>
              </a:ext>
            </a:extLst>
          </p:cNvPr>
          <p:cNvSpPr txBox="1"/>
          <p:nvPr/>
        </p:nvSpPr>
        <p:spPr>
          <a:xfrm>
            <a:off x="-2368" y="4872290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DA1BEE-EE2E-8FC9-10F2-B86A780DF206}"/>
              </a:ext>
            </a:extLst>
          </p:cNvPr>
          <p:cNvSpPr txBox="1"/>
          <p:nvPr/>
        </p:nvSpPr>
        <p:spPr>
          <a:xfrm>
            <a:off x="4048279" y="4865120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45360C-D360-FD27-3E2F-FFCDC36BDD04}"/>
              </a:ext>
            </a:extLst>
          </p:cNvPr>
          <p:cNvSpPr txBox="1"/>
          <p:nvPr/>
        </p:nvSpPr>
        <p:spPr>
          <a:xfrm>
            <a:off x="8088186" y="2242749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D1B843-1240-F233-41B0-A90A33A22B95}"/>
              </a:ext>
            </a:extLst>
          </p:cNvPr>
          <p:cNvSpPr txBox="1"/>
          <p:nvPr/>
        </p:nvSpPr>
        <p:spPr>
          <a:xfrm>
            <a:off x="8088186" y="4868108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F)</a:t>
            </a:r>
          </a:p>
        </p:txBody>
      </p:sp>
    </p:spTree>
    <p:extLst>
      <p:ext uri="{BB962C8B-B14F-4D97-AF65-F5344CB8AC3E}">
        <p14:creationId xmlns:p14="http://schemas.microsoft.com/office/powerpoint/2010/main" val="2694879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60AAED65-6A6A-5CEA-8909-9DA49D3863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6018" y="2608920"/>
            <a:ext cx="3930526" cy="2621845"/>
          </a:xfrm>
          <a:prstGeom prst="rect">
            <a:avLst/>
          </a:prstGeom>
        </p:spPr>
      </p:pic>
      <p:pic>
        <p:nvPicPr>
          <p:cNvPr id="3" name="Picture 2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8ACCB466-63FD-780E-500F-50429B4960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6073" y="1"/>
            <a:ext cx="4005926" cy="2672140"/>
          </a:xfrm>
          <a:prstGeom prst="rect">
            <a:avLst/>
          </a:prstGeom>
        </p:spPr>
      </p:pic>
      <p:pic>
        <p:nvPicPr>
          <p:cNvPr id="7" name="Picture 6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BC7C9EC4-7B07-CCA5-1046-82A662D041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70" y="2608921"/>
            <a:ext cx="4005926" cy="2672140"/>
          </a:xfrm>
          <a:prstGeom prst="rect">
            <a:avLst/>
          </a:prstGeom>
        </p:spPr>
      </p:pic>
      <p:pic>
        <p:nvPicPr>
          <p:cNvPr id="9" name="Picture 8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CC63845A-907F-5803-4F46-6E1D3A98E1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57" y="2608921"/>
            <a:ext cx="4005926" cy="2672140"/>
          </a:xfrm>
          <a:prstGeom prst="rect">
            <a:avLst/>
          </a:prstGeom>
        </p:spPr>
      </p:pic>
      <p:pic>
        <p:nvPicPr>
          <p:cNvPr id="11" name="Picture 10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CD9DEA1A-30B8-F1FB-AD77-D522F7326C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9004" y="-9764"/>
            <a:ext cx="4005926" cy="2672140"/>
          </a:xfrm>
          <a:prstGeom prst="rect">
            <a:avLst/>
          </a:prstGeom>
        </p:spPr>
      </p:pic>
      <p:pic>
        <p:nvPicPr>
          <p:cNvPr id="17" name="Picture 16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9AD48F9E-6EDA-CEEE-6089-345D929E0F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" y="-9764"/>
            <a:ext cx="4005926" cy="26721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44F9872-8AB8-087E-DDDB-E814501F4512}"/>
              </a:ext>
            </a:extLst>
          </p:cNvPr>
          <p:cNvSpPr txBox="1"/>
          <p:nvPr/>
        </p:nvSpPr>
        <p:spPr>
          <a:xfrm>
            <a:off x="-2368" y="2243002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CF2896-199E-8A6F-AE37-DC1B48001D20}"/>
              </a:ext>
            </a:extLst>
          </p:cNvPr>
          <p:cNvSpPr txBox="1"/>
          <p:nvPr/>
        </p:nvSpPr>
        <p:spPr>
          <a:xfrm>
            <a:off x="4048279" y="2239589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AFF093-6AF2-E0F3-164D-36DD5988524F}"/>
              </a:ext>
            </a:extLst>
          </p:cNvPr>
          <p:cNvSpPr txBox="1"/>
          <p:nvPr/>
        </p:nvSpPr>
        <p:spPr>
          <a:xfrm>
            <a:off x="-2368" y="4872290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DA1BEE-EE2E-8FC9-10F2-B86A780DF206}"/>
              </a:ext>
            </a:extLst>
          </p:cNvPr>
          <p:cNvSpPr txBox="1"/>
          <p:nvPr/>
        </p:nvSpPr>
        <p:spPr>
          <a:xfrm>
            <a:off x="4048279" y="4865120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45360C-D360-FD27-3E2F-FFCDC36BDD04}"/>
              </a:ext>
            </a:extLst>
          </p:cNvPr>
          <p:cNvSpPr txBox="1"/>
          <p:nvPr/>
        </p:nvSpPr>
        <p:spPr>
          <a:xfrm>
            <a:off x="8088186" y="2242749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D1B843-1240-F233-41B0-A90A33A22B95}"/>
              </a:ext>
            </a:extLst>
          </p:cNvPr>
          <p:cNvSpPr txBox="1"/>
          <p:nvPr/>
        </p:nvSpPr>
        <p:spPr>
          <a:xfrm>
            <a:off x="8088186" y="4868108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F)</a:t>
            </a:r>
          </a:p>
        </p:txBody>
      </p:sp>
    </p:spTree>
    <p:extLst>
      <p:ext uri="{BB962C8B-B14F-4D97-AF65-F5344CB8AC3E}">
        <p14:creationId xmlns:p14="http://schemas.microsoft.com/office/powerpoint/2010/main" val="285789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 descr="A graph of a patient's recovery&#10;&#10;Description automatically generated">
            <a:extLst>
              <a:ext uri="{FF2B5EF4-FFF2-40B4-BE49-F238E27FC236}">
                <a16:creationId xmlns:a16="http://schemas.microsoft.com/office/drawing/2014/main" id="{FB4215CA-F0CF-5BA0-D573-A41D8D2F27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24124" y="3359167"/>
            <a:ext cx="5248248" cy="3498832"/>
          </a:xfrm>
        </p:spPr>
      </p:pic>
      <p:pic>
        <p:nvPicPr>
          <p:cNvPr id="13" name="Picture 12" descr="A graph of a patient's recovery&#10;&#10;Description automatically generated">
            <a:extLst>
              <a:ext uri="{FF2B5EF4-FFF2-40B4-BE49-F238E27FC236}">
                <a16:creationId xmlns:a16="http://schemas.microsoft.com/office/drawing/2014/main" id="{82E462C3-24ED-60C7-1823-6131251C6F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249" y="1"/>
            <a:ext cx="5248248" cy="3498832"/>
          </a:xfrm>
          <a:prstGeom prst="rect">
            <a:avLst/>
          </a:prstGeom>
        </p:spPr>
      </p:pic>
      <p:pic>
        <p:nvPicPr>
          <p:cNvPr id="15" name="Picture 14" descr="A graph of a patient's life&#10;&#10;Description automatically generated">
            <a:extLst>
              <a:ext uri="{FF2B5EF4-FFF2-40B4-BE49-F238E27FC236}">
                <a16:creationId xmlns:a16="http://schemas.microsoft.com/office/drawing/2014/main" id="{C0F84139-99A8-5AF5-5B4A-68565EFEC2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248248" cy="349883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379A7D9-FB7B-E29A-9D0F-D61F09250F66}"/>
              </a:ext>
            </a:extLst>
          </p:cNvPr>
          <p:cNvSpPr txBox="1"/>
          <p:nvPr/>
        </p:nvSpPr>
        <p:spPr>
          <a:xfrm>
            <a:off x="838200" y="2410094"/>
            <a:ext cx="3030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Log-rank p-value &lt; 0.001**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FCD0672-6E94-AC43-FAA6-EEB2AC94CE7E}"/>
              </a:ext>
            </a:extLst>
          </p:cNvPr>
          <p:cNvSpPr txBox="1"/>
          <p:nvPr/>
        </p:nvSpPr>
        <p:spPr>
          <a:xfrm>
            <a:off x="6096000" y="2410094"/>
            <a:ext cx="3030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Log-rank p-value = 0.34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F3A10A-00A7-9A0F-15BA-07230663E7EF}"/>
              </a:ext>
            </a:extLst>
          </p:cNvPr>
          <p:cNvSpPr txBox="1"/>
          <p:nvPr/>
        </p:nvSpPr>
        <p:spPr>
          <a:xfrm>
            <a:off x="3487615" y="5791509"/>
            <a:ext cx="3030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Log-rank p-value = 0.26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18885F7-37E0-3B6D-1D43-96DF1BE98782}"/>
              </a:ext>
            </a:extLst>
          </p:cNvPr>
          <p:cNvSpPr txBox="1"/>
          <p:nvPr/>
        </p:nvSpPr>
        <p:spPr>
          <a:xfrm>
            <a:off x="-1" y="2410094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D66566-F2D6-73AA-7A15-BBBEB39415A4}"/>
              </a:ext>
            </a:extLst>
          </p:cNvPr>
          <p:cNvSpPr txBox="1"/>
          <p:nvPr/>
        </p:nvSpPr>
        <p:spPr>
          <a:xfrm>
            <a:off x="5248248" y="2410094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2C8477-5AB6-9B39-3170-75D84ABEA074}"/>
              </a:ext>
            </a:extLst>
          </p:cNvPr>
          <p:cNvSpPr txBox="1"/>
          <p:nvPr/>
        </p:nvSpPr>
        <p:spPr>
          <a:xfrm>
            <a:off x="2389508" y="5976175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c)</a:t>
            </a:r>
          </a:p>
        </p:txBody>
      </p:sp>
    </p:spTree>
    <p:extLst>
      <p:ext uri="{BB962C8B-B14F-4D97-AF65-F5344CB8AC3E}">
        <p14:creationId xmlns:p14="http://schemas.microsoft.com/office/powerpoint/2010/main" val="2355214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graph of a patient's recovery&#10;&#10;Description automatically generated">
            <a:extLst>
              <a:ext uri="{FF2B5EF4-FFF2-40B4-BE49-F238E27FC236}">
                <a16:creationId xmlns:a16="http://schemas.microsoft.com/office/drawing/2014/main" id="{10DE075E-5C24-604F-F708-A2003C19B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0092" y="3391208"/>
            <a:ext cx="5200188" cy="3466792"/>
          </a:xfrm>
          <a:prstGeom prst="rect">
            <a:avLst/>
          </a:prstGeom>
        </p:spPr>
      </p:pic>
      <p:pic>
        <p:nvPicPr>
          <p:cNvPr id="8" name="Picture 7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266643FC-D9B0-AE34-6430-8BA3FC6EF4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187" y="0"/>
            <a:ext cx="5200189" cy="3466792"/>
          </a:xfrm>
          <a:prstGeom prst="rect">
            <a:avLst/>
          </a:prstGeom>
        </p:spPr>
      </p:pic>
      <p:pic>
        <p:nvPicPr>
          <p:cNvPr id="6" name="Picture 5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557E4172-1C10-CC40-9DBF-87F4155E6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200188" cy="346679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379A7D9-FB7B-E29A-9D0F-D61F09250F66}"/>
              </a:ext>
            </a:extLst>
          </p:cNvPr>
          <p:cNvSpPr txBox="1"/>
          <p:nvPr/>
        </p:nvSpPr>
        <p:spPr>
          <a:xfrm>
            <a:off x="838200" y="2410094"/>
            <a:ext cx="3030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Log-rank p-value = 0.38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FCD0672-6E94-AC43-FAA6-EEB2AC94CE7E}"/>
              </a:ext>
            </a:extLst>
          </p:cNvPr>
          <p:cNvSpPr txBox="1"/>
          <p:nvPr/>
        </p:nvSpPr>
        <p:spPr>
          <a:xfrm>
            <a:off x="6096000" y="2410094"/>
            <a:ext cx="3030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Log-rank p-value = 0.07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F3A10A-00A7-9A0F-15BA-07230663E7EF}"/>
              </a:ext>
            </a:extLst>
          </p:cNvPr>
          <p:cNvSpPr txBox="1"/>
          <p:nvPr/>
        </p:nvSpPr>
        <p:spPr>
          <a:xfrm>
            <a:off x="3487615" y="5791509"/>
            <a:ext cx="3030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Log-rank p-value = 0.86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18885F7-37E0-3B6D-1D43-96DF1BE98782}"/>
              </a:ext>
            </a:extLst>
          </p:cNvPr>
          <p:cNvSpPr txBox="1"/>
          <p:nvPr/>
        </p:nvSpPr>
        <p:spPr>
          <a:xfrm>
            <a:off x="-1" y="2410094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D66566-F2D6-73AA-7A15-BBBEB39415A4}"/>
              </a:ext>
            </a:extLst>
          </p:cNvPr>
          <p:cNvSpPr txBox="1"/>
          <p:nvPr/>
        </p:nvSpPr>
        <p:spPr>
          <a:xfrm>
            <a:off x="5248248" y="2410094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2C8477-5AB6-9B39-3170-75D84ABEA074}"/>
              </a:ext>
            </a:extLst>
          </p:cNvPr>
          <p:cNvSpPr txBox="1"/>
          <p:nvPr/>
        </p:nvSpPr>
        <p:spPr>
          <a:xfrm>
            <a:off x="2389508" y="5976175"/>
            <a:ext cx="4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c)</a:t>
            </a:r>
          </a:p>
        </p:txBody>
      </p:sp>
    </p:spTree>
    <p:extLst>
      <p:ext uri="{BB962C8B-B14F-4D97-AF65-F5344CB8AC3E}">
        <p14:creationId xmlns:p14="http://schemas.microsoft.com/office/powerpoint/2010/main" val="2909437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CBB9A540-6375-9BF3-7926-4E40BBBD97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4564" y="0"/>
            <a:ext cx="6167437" cy="3700462"/>
          </a:xfrm>
          <a:prstGeom prst="rect">
            <a:avLst/>
          </a:prstGeom>
        </p:spPr>
      </p:pic>
      <p:pic>
        <p:nvPicPr>
          <p:cNvPr id="9" name="Picture 8" descr="A graph of different colored lines&#10;&#10;Description automatically generated">
            <a:extLst>
              <a:ext uri="{FF2B5EF4-FFF2-40B4-BE49-F238E27FC236}">
                <a16:creationId xmlns:a16="http://schemas.microsoft.com/office/drawing/2014/main" id="{6AB44898-E549-7FD7-BE70-1DFB87DAC7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1437" y="0"/>
            <a:ext cx="6167437" cy="370046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8096637-0A7C-4686-5F15-FD8992E37872}"/>
              </a:ext>
            </a:extLst>
          </p:cNvPr>
          <p:cNvSpPr txBox="1"/>
          <p:nvPr/>
        </p:nvSpPr>
        <p:spPr>
          <a:xfrm>
            <a:off x="0" y="3244334"/>
            <a:ext cx="450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09FF64-71CD-6792-9D9E-37F0A1C3A928}"/>
              </a:ext>
            </a:extLst>
          </p:cNvPr>
          <p:cNvSpPr txBox="1"/>
          <p:nvPr/>
        </p:nvSpPr>
        <p:spPr>
          <a:xfrm>
            <a:off x="5870712" y="3244334"/>
            <a:ext cx="450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b)</a:t>
            </a:r>
          </a:p>
        </p:txBody>
      </p:sp>
    </p:spTree>
    <p:extLst>
      <p:ext uri="{BB962C8B-B14F-4D97-AF65-F5344CB8AC3E}">
        <p14:creationId xmlns:p14="http://schemas.microsoft.com/office/powerpoint/2010/main" val="2052640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5670E6DF-C17A-75C5-4702-A5894F576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590" y="-14780"/>
            <a:ext cx="6047410" cy="3628446"/>
          </a:xfrm>
          <a:prstGeom prst="rect">
            <a:avLst/>
          </a:prstGeom>
        </p:spPr>
      </p:pic>
      <p:pic>
        <p:nvPicPr>
          <p:cNvPr id="3" name="Picture 2" descr="A graph of different colored lines&#10;&#10;Description automatically generated">
            <a:extLst>
              <a:ext uri="{FF2B5EF4-FFF2-40B4-BE49-F238E27FC236}">
                <a16:creationId xmlns:a16="http://schemas.microsoft.com/office/drawing/2014/main" id="{368A7A3C-EF37-30D0-5907-79CE6445E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047410" cy="362844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8096637-0A7C-4686-5F15-FD8992E37872}"/>
              </a:ext>
            </a:extLst>
          </p:cNvPr>
          <p:cNvSpPr txBox="1"/>
          <p:nvPr/>
        </p:nvSpPr>
        <p:spPr>
          <a:xfrm>
            <a:off x="0" y="3244334"/>
            <a:ext cx="450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09FF64-71CD-6792-9D9E-37F0A1C3A928}"/>
              </a:ext>
            </a:extLst>
          </p:cNvPr>
          <p:cNvSpPr txBox="1"/>
          <p:nvPr/>
        </p:nvSpPr>
        <p:spPr>
          <a:xfrm>
            <a:off x="5870712" y="3244334"/>
            <a:ext cx="450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b)</a:t>
            </a:r>
          </a:p>
        </p:txBody>
      </p:sp>
    </p:spTree>
    <p:extLst>
      <p:ext uri="{BB962C8B-B14F-4D97-AF65-F5344CB8AC3E}">
        <p14:creationId xmlns:p14="http://schemas.microsoft.com/office/powerpoint/2010/main" val="1440710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B96FC576-AE30-4C09-A12C-0582F2A6A0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1" name="Picture 20" descr="A graph of a patient's recovery&#10;&#10;Description automatically generated">
            <a:extLst>
              <a:ext uri="{FF2B5EF4-FFF2-40B4-BE49-F238E27FC236}">
                <a16:creationId xmlns:a16="http://schemas.microsoft.com/office/drawing/2014/main" id="{CA1B21DF-FA8D-6516-3D48-D1DED840D98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" b="15775"/>
          <a:stretch/>
        </p:blipFill>
        <p:spPr>
          <a:xfrm>
            <a:off x="5909200" y="0"/>
            <a:ext cx="5992064" cy="3368842"/>
          </a:xfrm>
          <a:prstGeom prst="rect">
            <a:avLst/>
          </a:prstGeom>
        </p:spPr>
      </p:pic>
      <p:pic>
        <p:nvPicPr>
          <p:cNvPr id="27" name="Picture 26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5467B5CD-5EEB-DB5F-A72A-2387A39C9A7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" b="15775"/>
          <a:stretch/>
        </p:blipFill>
        <p:spPr>
          <a:xfrm>
            <a:off x="56538" y="45513"/>
            <a:ext cx="6039462" cy="3395489"/>
          </a:xfrm>
          <a:prstGeom prst="rect">
            <a:avLst/>
          </a:prstGeom>
        </p:spPr>
      </p:pic>
      <p:pic>
        <p:nvPicPr>
          <p:cNvPr id="23" name="Picture 22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6559310A-1B85-4B11-0377-0F65C228C7A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2" b="15775"/>
          <a:stretch/>
        </p:blipFill>
        <p:spPr>
          <a:xfrm>
            <a:off x="6035079" y="3368842"/>
            <a:ext cx="6044145" cy="3398132"/>
          </a:xfrm>
          <a:prstGeom prst="rect">
            <a:avLst/>
          </a:prstGeom>
        </p:spPr>
      </p:pic>
      <p:pic>
        <p:nvPicPr>
          <p:cNvPr id="25" name="Picture 24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155562BB-EB56-6232-F6AC-2F6369D7E540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2" b="15775"/>
          <a:stretch/>
        </p:blipFill>
        <p:spPr>
          <a:xfrm>
            <a:off x="71571" y="3423788"/>
            <a:ext cx="6044145" cy="33981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C1996A3B-E381-F22C-063F-1082B672E7C4}"/>
              </a:ext>
            </a:extLst>
          </p:cNvPr>
          <p:cNvSpPr txBox="1"/>
          <p:nvPr/>
        </p:nvSpPr>
        <p:spPr>
          <a:xfrm>
            <a:off x="7390023" y="2838908"/>
            <a:ext cx="3030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Log-rank p-value &lt; 0.001**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C4E47C4-D97B-D430-6F0C-0D23428E0639}"/>
              </a:ext>
            </a:extLst>
          </p:cNvPr>
          <p:cNvSpPr txBox="1"/>
          <p:nvPr/>
        </p:nvSpPr>
        <p:spPr>
          <a:xfrm>
            <a:off x="7390024" y="6349515"/>
            <a:ext cx="3030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Log-rank p-value &lt; 0.001**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98E397-8449-BB6D-6D59-4E08A2337BC1}"/>
              </a:ext>
            </a:extLst>
          </p:cNvPr>
          <p:cNvSpPr txBox="1"/>
          <p:nvPr/>
        </p:nvSpPr>
        <p:spPr>
          <a:xfrm>
            <a:off x="1578437" y="2842317"/>
            <a:ext cx="3030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Log-rank p-value &lt; 0.001**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174F3B8-82B5-9070-4AB0-5E2A39D31B6C}"/>
              </a:ext>
            </a:extLst>
          </p:cNvPr>
          <p:cNvSpPr txBox="1"/>
          <p:nvPr/>
        </p:nvSpPr>
        <p:spPr>
          <a:xfrm>
            <a:off x="1578437" y="6348027"/>
            <a:ext cx="3030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Log-rank p-value &lt; 0.001**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E25C886-3721-B59E-659D-A51AD9D75B4D}"/>
              </a:ext>
            </a:extLst>
          </p:cNvPr>
          <p:cNvSpPr txBox="1"/>
          <p:nvPr/>
        </p:nvSpPr>
        <p:spPr>
          <a:xfrm>
            <a:off x="0" y="3244334"/>
            <a:ext cx="450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8E47F-D875-B75E-3296-B04785967742}"/>
              </a:ext>
            </a:extLst>
          </p:cNvPr>
          <p:cNvSpPr txBox="1"/>
          <p:nvPr/>
        </p:nvSpPr>
        <p:spPr>
          <a:xfrm>
            <a:off x="5878654" y="3244334"/>
            <a:ext cx="450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2E1B82-F826-FEF9-FE3A-19B1278487D1}"/>
              </a:ext>
            </a:extLst>
          </p:cNvPr>
          <p:cNvSpPr txBox="1"/>
          <p:nvPr/>
        </p:nvSpPr>
        <p:spPr>
          <a:xfrm>
            <a:off x="5905461" y="6488668"/>
            <a:ext cx="450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B75E994-1460-5EA6-0E6C-F8DB2624C24D}"/>
              </a:ext>
            </a:extLst>
          </p:cNvPr>
          <p:cNvSpPr txBox="1"/>
          <p:nvPr/>
        </p:nvSpPr>
        <p:spPr>
          <a:xfrm>
            <a:off x="23317" y="6488668"/>
            <a:ext cx="450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c)</a:t>
            </a:r>
          </a:p>
        </p:txBody>
      </p:sp>
    </p:spTree>
    <p:extLst>
      <p:ext uri="{BB962C8B-B14F-4D97-AF65-F5344CB8AC3E}">
        <p14:creationId xmlns:p14="http://schemas.microsoft.com/office/powerpoint/2010/main" val="11817758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B96FC576-AE30-4C09-A12C-0582F2A6A0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10D0ADA8-A966-D4CE-29C3-F0CAB8C512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6211" y="3510242"/>
            <a:ext cx="5010585" cy="3340390"/>
          </a:xfrm>
          <a:prstGeom prst="rect">
            <a:avLst/>
          </a:prstGeom>
        </p:spPr>
      </p:pic>
      <p:pic>
        <p:nvPicPr>
          <p:cNvPr id="7" name="Picture 6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8FFB44C1-3CFE-5F99-4706-C61ECD602E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622" y="7172"/>
            <a:ext cx="5177592" cy="3451728"/>
          </a:xfrm>
          <a:prstGeom prst="rect">
            <a:avLst/>
          </a:prstGeom>
        </p:spPr>
      </p:pic>
      <p:pic>
        <p:nvPicPr>
          <p:cNvPr id="9" name="Picture 8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DB7D4B7A-8426-B785-B4BB-C0763A2911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2708" y="32843"/>
            <a:ext cx="5177593" cy="3451728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798E397-8449-BB6D-6D59-4E08A2337BC1}"/>
              </a:ext>
            </a:extLst>
          </p:cNvPr>
          <p:cNvSpPr txBox="1"/>
          <p:nvPr/>
        </p:nvSpPr>
        <p:spPr>
          <a:xfrm>
            <a:off x="2410206" y="2317539"/>
            <a:ext cx="3030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Log-rank p-value &lt; 0.001**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174F3B8-82B5-9070-4AB0-5E2A39D31B6C}"/>
              </a:ext>
            </a:extLst>
          </p:cNvPr>
          <p:cNvSpPr txBox="1"/>
          <p:nvPr/>
        </p:nvSpPr>
        <p:spPr>
          <a:xfrm>
            <a:off x="2410205" y="5769038"/>
            <a:ext cx="3030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Log-rank p-value &lt; 0.001**</a:t>
            </a:r>
          </a:p>
        </p:txBody>
      </p:sp>
      <p:pic>
        <p:nvPicPr>
          <p:cNvPr id="5" name="Picture 4" descr="A graph of a patient's survival&#10;&#10;Description automatically generated">
            <a:extLst>
              <a:ext uri="{FF2B5EF4-FFF2-40B4-BE49-F238E27FC236}">
                <a16:creationId xmlns:a16="http://schemas.microsoft.com/office/drawing/2014/main" id="{00E754AD-26D9-ED8D-1450-2C65E6386A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7621" y="3347076"/>
            <a:ext cx="5177594" cy="3451729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C1996A3B-E381-F22C-063F-1082B672E7C4}"/>
              </a:ext>
            </a:extLst>
          </p:cNvPr>
          <p:cNvSpPr txBox="1"/>
          <p:nvPr/>
        </p:nvSpPr>
        <p:spPr>
          <a:xfrm>
            <a:off x="7244270" y="2317539"/>
            <a:ext cx="3030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Log-rank p-value &lt; 0.001**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C4E47C4-D97B-D430-6F0C-0D23428E0639}"/>
              </a:ext>
            </a:extLst>
          </p:cNvPr>
          <p:cNvSpPr txBox="1"/>
          <p:nvPr/>
        </p:nvSpPr>
        <p:spPr>
          <a:xfrm>
            <a:off x="7244269" y="5769038"/>
            <a:ext cx="3030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Log-rank p-value = 0.007**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47145C-E6AD-EF2C-FE1F-FC2691D89E0B}"/>
              </a:ext>
            </a:extLst>
          </p:cNvPr>
          <p:cNvSpPr txBox="1"/>
          <p:nvPr/>
        </p:nvSpPr>
        <p:spPr>
          <a:xfrm>
            <a:off x="1194456" y="2776657"/>
            <a:ext cx="450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7A3CFB-99E3-4223-EB9D-4EB2CBDF89E0}"/>
              </a:ext>
            </a:extLst>
          </p:cNvPr>
          <p:cNvSpPr txBox="1"/>
          <p:nvPr/>
        </p:nvSpPr>
        <p:spPr>
          <a:xfrm>
            <a:off x="6267621" y="2776657"/>
            <a:ext cx="450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80F403-14BE-0B53-6786-A9C3E9DF758B}"/>
              </a:ext>
            </a:extLst>
          </p:cNvPr>
          <p:cNvSpPr txBox="1"/>
          <p:nvPr/>
        </p:nvSpPr>
        <p:spPr>
          <a:xfrm>
            <a:off x="6267621" y="6159295"/>
            <a:ext cx="450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42B1F4-DD7C-7652-2112-499D739E973B}"/>
              </a:ext>
            </a:extLst>
          </p:cNvPr>
          <p:cNvSpPr txBox="1"/>
          <p:nvPr/>
        </p:nvSpPr>
        <p:spPr>
          <a:xfrm>
            <a:off x="1194457" y="6159295"/>
            <a:ext cx="450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c)</a:t>
            </a:r>
          </a:p>
        </p:txBody>
      </p:sp>
    </p:spTree>
    <p:extLst>
      <p:ext uri="{BB962C8B-B14F-4D97-AF65-F5344CB8AC3E}">
        <p14:creationId xmlns:p14="http://schemas.microsoft.com/office/powerpoint/2010/main" val="29544717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801</TotalTime>
  <Words>129</Words>
  <Application>Microsoft Macintosh PowerPoint</Application>
  <PresentationFormat>Widescreen</PresentationFormat>
  <Paragraphs>48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Ahluwalia, Vinayak</dc:creator>
  <cp:lastModifiedBy>Ahluwalia, Vinayak</cp:lastModifiedBy>
  <cp:revision>66</cp:revision>
  <dcterms:created xsi:type="dcterms:W3CDTF">2024-05-06T16:24:08Z</dcterms:created>
  <dcterms:modified xsi:type="dcterms:W3CDTF">2024-06-17T19:36:59Z</dcterms:modified>
</cp:coreProperties>
</file>